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D2339"/>
                </a:solidFill>
              </a:defRPr>
            </a:pPr>
            <a:r>
              <a:t>Tim Reska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107ACA"/>
                </a:solidFill>
              </a:defRPr>
            </a:pPr>
            <a:r>
              <a:t>AI-Augmented Medical Underwriting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931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B4660"/>
                </a:solidFill>
              </a:defRPr>
            </a:pPr>
            <a:r>
              <a:t>What I built in 48 hours with Claude to show you what's possible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1788E"/>
                </a:solidFill>
              </a:defRPr>
            </a:pPr>
            <a:r>
              <a:t>PhD Helmholtz Munich  |  github.com/ttmgr  | 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339"/>
                </a:solidFill>
              </a:defRPr>
            </a:pPr>
            <a:r>
              <a:t>My published pipeline exposed 'plausible but wrong' LLM outputs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07ACA"/>
                </a:solidFill>
              </a:defRPr>
            </a:pPr>
            <a:r>
              <a:t>PhD Helmholtz Munich &amp; TU Munich  |  github.com/ttmgr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2339"/>
                </a:solidFill>
              </a:defRPr>
            </a:pPr>
            <a:r>
              <a:t>Research &amp; Publications</a:t>
            </a:r>
          </a:p>
          <a:p>
            <a:pPr>
              <a:spcBef>
                <a:spcPts val="400"/>
              </a:spcBef>
              <a:defRPr sz="1300">
                <a:solidFill>
                  <a:srgbClr val="2B4660"/>
                </a:solidFill>
              </a:defRPr>
            </a:pPr>
            <a:r>
              <a:t>8 peer-reviewed publications including Nature Communications</a:t>
            </a:r>
          </a:p>
          <a:p>
            <a:pPr>
              <a:spcBef>
                <a:spcPts val="400"/>
              </a:spcBef>
              <a:defRPr sz="1300">
                <a:solidFill>
                  <a:srgbClr val="2B4660"/>
                </a:solidFill>
              </a:defRPr>
            </a:pPr>
            <a:r>
              <a:t>22,000+ accesses, 43+ citations</a:t>
            </a:r>
          </a:p>
          <a:p>
            <a:pPr>
              <a:spcBef>
                <a:spcPts val="400"/>
              </a:spcBef>
              <a:defRPr sz="1300">
                <a:solidFill>
                  <a:srgbClr val="2B4660"/>
                </a:solidFill>
              </a:defRPr>
            </a:pPr>
            <a:r>
              <a:t>Invited speaker: ETH Zurich, Cambridge, TUM</a:t>
            </a:r>
          </a:p>
          <a:p>
            <a:pPr>
              <a:spcBef>
                <a:spcPts val="400"/>
              </a:spcBef>
              <a:defRPr sz="1300">
                <a:solidFill>
                  <a:srgbClr val="2B4660"/>
                </a:solidFill>
              </a:defRPr>
            </a:pPr>
            <a:r>
              <a:t>PhD thesis: real-time genomics for pathogen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828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2339"/>
                </a:solidFill>
              </a:defRPr>
            </a:pPr>
            <a:r>
              <a:t>AI &amp; Claude Expertise</a:t>
            </a:r>
          </a:p>
          <a:p>
            <a:pPr>
              <a:spcBef>
                <a:spcPts val="400"/>
              </a:spcBef>
              <a:defRPr sz="1300">
                <a:solidFill>
                  <a:srgbClr val="2B4660"/>
                </a:solidFill>
              </a:defRPr>
            </a:pPr>
            <a:r>
              <a:t>36-month LLM evaluation: 22 models (GPT, Claude, Gemini)</a:t>
            </a:r>
          </a:p>
          <a:p>
            <a:pPr>
              <a:spcBef>
                <a:spcPts val="400"/>
              </a:spcBef>
              <a:defRPr sz="1300">
                <a:solidFill>
                  <a:srgbClr val="2B4660"/>
                </a:solidFill>
              </a:defRPr>
            </a:pPr>
            <a:r>
              <a:t>Observed 'plausible but wrong' across all 3 LLM families (22 models)</a:t>
            </a:r>
          </a:p>
          <a:p>
            <a:pPr>
              <a:spcBef>
                <a:spcPts val="400"/>
              </a:spcBef>
              <a:defRPr sz="1300">
                <a:solidFill>
                  <a:srgbClr val="2B4660"/>
                </a:solidFill>
              </a:defRPr>
            </a:pPr>
            <a:r>
              <a:t>Integrated Claude + MCP into live pipelines (-40% dev time)</a:t>
            </a:r>
          </a:p>
          <a:p>
            <a:pPr>
              <a:spcBef>
                <a:spcPts val="400"/>
              </a:spcBef>
              <a:defRPr sz="1300">
                <a:solidFill>
                  <a:srgbClr val="2B4660"/>
                </a:solidFill>
              </a:defRPr>
            </a:pPr>
            <a:r>
              <a:t>10 modular pipelines deployed across 7 sites in DE/FR/ES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07ACA"/>
                </a:solidFill>
              </a:defRPr>
            </a:pPr>
            <a:r>
              <a:t>I applied my PBW research to medical underwriting -- and built the proof in 48 hours.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339"/>
                </a:solidFill>
              </a:defRPr>
            </a:pPr>
            <a:r>
              <a:t>Underwriting models are confidently wrong when data quality is poor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07ACA"/>
                </a:solidFill>
              </a:defRPr>
            </a:pPr>
            <a:r>
              <a:t>I found the same failure mode in genomics AI -- and it applies directly to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2339"/>
                </a:solidFill>
              </a:defRPr>
            </a:pPr>
            <a:r>
              <a:t>The failure mode</a:t>
            </a:r>
          </a:p>
          <a:p>
            <a:pPr>
              <a:spcBef>
                <a:spcPts val="400"/>
              </a:spcBef>
              <a:defRPr sz="1300">
                <a:solidFill>
                  <a:srgbClr val="2B4660"/>
                </a:solidFill>
              </a:defRPr>
            </a:pPr>
            <a:r>
              <a:t>Model scores patient as '78% high risk' based on 3 diagnoses, no labs</a:t>
            </a:r>
          </a:p>
          <a:p>
            <a:pPr>
              <a:spcBef>
                <a:spcPts val="400"/>
              </a:spcBef>
              <a:defRPr sz="1300">
                <a:solidFill>
                  <a:srgbClr val="2B4660"/>
                </a:solidFill>
              </a:defRPr>
            </a:pPr>
            <a:r>
              <a:t>Score looks right -- passes every sanity check</a:t>
            </a:r>
          </a:p>
          <a:p>
            <a:pPr>
              <a:spcBef>
                <a:spcPts val="400"/>
              </a:spcBef>
              <a:defRPr sz="1300">
                <a:solidFill>
                  <a:srgbClr val="2B4660"/>
                </a:solidFill>
              </a:defRPr>
            </a:pPr>
            <a:r>
              <a:t>But it's echoing training data averages, not this patient's reality</a:t>
            </a:r>
          </a:p>
          <a:p>
            <a:pPr>
              <a:spcBef>
                <a:spcPts val="400"/>
              </a:spcBef>
              <a:defRPr sz="1300">
                <a:solidFill>
                  <a:srgbClr val="2B4660"/>
                </a:solidFill>
              </a:defRPr>
            </a:pPr>
            <a:r>
              <a:t>I call this 'Plausible but Wrong' (ISME Communications 2024)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2339"/>
                </a:solidFill>
              </a:defRPr>
            </a:pPr>
            <a:r>
              <a:t>At portfolio scale</a:t>
            </a:r>
          </a:p>
          <a:p>
            <a:pPr>
              <a:spcBef>
                <a:spcPts val="400"/>
              </a:spcBef>
              <a:defRPr sz="1300">
                <a:solidFill>
                  <a:srgbClr val="2B4660"/>
                </a:solidFill>
              </a:defRPr>
            </a:pPr>
            <a:r>
              <a:t>100,000 decisions/year x 2% PBW = 2,000 mispriced policies</a:t>
            </a:r>
          </a:p>
          <a:p>
            <a:pPr>
              <a:spcBef>
                <a:spcPts val="400"/>
              </a:spcBef>
              <a:defRPr sz="1300">
                <a:solidFill>
                  <a:srgbClr val="2B4660"/>
                </a:solidFill>
              </a:defRPr>
            </a:pPr>
            <a:r>
              <a:t>Invisible in standard metrics (AUC, Brier score look fine)</a:t>
            </a:r>
          </a:p>
          <a:p>
            <a:pPr>
              <a:spcBef>
                <a:spcPts val="400"/>
              </a:spcBef>
              <a:defRPr sz="1300">
                <a:solidFill>
                  <a:srgbClr val="2B4660"/>
                </a:solidFill>
              </a:defRPr>
            </a:pPr>
            <a:r>
              <a:t>EU AI Act 2024: Art. 14+15 require per-case reliability</a:t>
            </a:r>
          </a:p>
          <a:p>
            <a:pPr>
              <a:spcBef>
                <a:spcPts val="400"/>
              </a:spcBef>
              <a:defRPr sz="1300">
                <a:solidFill>
                  <a:srgbClr val="2B4660"/>
                </a:solidFill>
              </a:defRPr>
            </a:pPr>
            <a:r>
              <a:t>No production system today validates this at individual level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339"/>
                </a:solidFill>
              </a:defRPr>
            </a:pPr>
            <a:r>
              <a:t>I built a working underwriting system in 48 hours to show you what's possible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07ACA"/>
                </a:solidFill>
              </a:defRPr>
            </a:pPr>
            <a:r>
              <a:t>Not a slide deck -- a running application with 231 tests and every number verified against PubMed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solidFill>
            <a:srgbClr val="EEF2F7"/>
          </a:solidFill>
          <a:ln>
            <a:solidFill>
              <a:srgbClr val="C4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D2339"/>
                </a:solidFill>
              </a:defRPr>
            </a:pPr>
            <a:r>
              <a:t>Patient Record  --&gt;  Data Quality Score  --&gt;  Right Model for This Data  --&gt;  P(wrong)  --&gt;  Accept / Review / Reject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339"/>
                </a:solidFill>
              </a:defRPr>
            </a:pPr>
            <a:r>
              <a:t>What it does</a:t>
            </a:r>
          </a:p>
          <a:p>
            <a:pPr>
              <a:spcBef>
                <a:spcPts val="400"/>
              </a:spcBef>
              <a:defRPr sz="1300">
                <a:solidFill>
                  <a:srgbClr val="2B4660"/>
                </a:solidFill>
              </a:defRPr>
            </a:pPr>
            <a:r>
              <a:t>Scores data quality BEFORE the model runs</a:t>
            </a:r>
          </a:p>
          <a:p>
            <a:pPr>
              <a:spcBef>
                <a:spcPts val="400"/>
              </a:spcBef>
              <a:defRPr sz="1300">
                <a:solidFill>
                  <a:srgbClr val="2B4660"/>
                </a:solidFill>
              </a:defRPr>
            </a:pPr>
            <a:r>
              <a:t>Routes to the right model for available data (no imputation)</a:t>
            </a:r>
          </a:p>
          <a:p>
            <a:pPr>
              <a:spcBef>
                <a:spcPts val="400"/>
              </a:spcBef>
              <a:defRPr sz="1300">
                <a:solidFill>
                  <a:srgbClr val="2B4660"/>
                </a:solidFill>
              </a:defRPr>
            </a:pPr>
            <a:r>
              <a:t>Estimates P(wrong) and makes cost-optimal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3657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339"/>
                </a:solidFill>
              </a:defRPr>
            </a:pPr>
            <a:r>
              <a:t>How I built it</a:t>
            </a:r>
          </a:p>
          <a:p>
            <a:pPr>
              <a:spcBef>
                <a:spcPts val="400"/>
              </a:spcBef>
              <a:defRPr sz="1300">
                <a:solidFill>
                  <a:srgbClr val="2B4660"/>
                </a:solidFill>
              </a:defRPr>
            </a:pPr>
            <a:r>
              <a:t>Claude as co-pilot for architecture, coding, and testing</a:t>
            </a:r>
          </a:p>
          <a:p>
            <a:pPr>
              <a:spcBef>
                <a:spcPts val="400"/>
              </a:spcBef>
              <a:defRPr sz="1300">
                <a:solidFill>
                  <a:srgbClr val="2B4660"/>
                </a:solidFill>
              </a:defRPr>
            </a:pPr>
            <a:r>
              <a:t>LLM agents for PubMed literature verification</a:t>
            </a:r>
          </a:p>
          <a:p>
            <a:pPr>
              <a:spcBef>
                <a:spcPts val="400"/>
              </a:spcBef>
              <a:defRPr sz="1300">
                <a:solidFill>
                  <a:srgbClr val="2B4660"/>
                </a:solidFill>
              </a:defRPr>
            </a:pPr>
            <a:r>
              <a:t>Same AI workflow I'd use at Allianz -- but with real 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339"/>
                </a:solidFill>
              </a:defRPr>
            </a:pPr>
            <a:r>
              <a:t>International markets show 2.4x higher mispricing risk than Germany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07ACA"/>
                </a:solidFill>
              </a:defRPr>
            </a:pPr>
            <a:r>
              <a:t>4 European markets, controlled data quality degradation -- the same 3 countries I worked in for genomics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2103120"/>
          <a:ext cx="9144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Market</a:t>
                      </a:r>
                    </a:p>
                  </a:txBody>
                  <a:tcPr>
                    <a:solidFill>
                      <a:srgbClr val="0D23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Data Quality</a:t>
                      </a:r>
                    </a:p>
                  </a:txBody>
                  <a:tcPr>
                    <a:solidFill>
                      <a:srgbClr val="0D23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Mean DQS</a:t>
                      </a:r>
                    </a:p>
                  </a:txBody>
                  <a:tcPr>
                    <a:solidFill>
                      <a:srgbClr val="0D23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PBW Flag Rate</a:t>
                      </a:r>
                    </a:p>
                  </a:txBody>
                  <a:tcPr>
                    <a:solidFill>
                      <a:srgbClr val="0D233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4660"/>
                          </a:solidFill>
                        </a:defRPr>
                      </a:pPr>
                      <a:r>
                        <a:t>Germany (DE)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4660"/>
                          </a:solidFill>
                        </a:defRPr>
                      </a:pPr>
                      <a:r>
                        <a:t>High (95% coding, 92% labs)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4660"/>
                          </a:solidFill>
                        </a:defRPr>
                      </a:pPr>
                      <a:r>
                        <a:t>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4660"/>
                          </a:solidFill>
                        </a:defRPr>
                      </a:pPr>
                      <a:r>
                        <a:t>0.9%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4660"/>
                          </a:solidFill>
                        </a:defRPr>
                      </a:pPr>
                      <a:r>
                        <a:t>France (FR)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4660"/>
                          </a:solidFill>
                        </a:defRPr>
                      </a:pPr>
                      <a:r>
                        <a:t>Good (90% coding, 88% labs)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4660"/>
                          </a:solidFill>
                        </a:defRPr>
                      </a:pPr>
                      <a:r>
                        <a:t>0.80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4660"/>
                          </a:solidFill>
                        </a:defRPr>
                      </a:pPr>
                      <a:r>
                        <a:t>1.0%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4660"/>
                          </a:solidFill>
                        </a:defRPr>
                      </a:pPr>
                      <a:r>
                        <a:t>Spain (ES)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4660"/>
                          </a:solidFill>
                        </a:defRPr>
                      </a:pPr>
                      <a:r>
                        <a:t>Medium (80% coding, 75% labs)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4660"/>
                          </a:solidFill>
                        </a:defRPr>
                      </a:pPr>
                      <a:r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4660"/>
                          </a:solidFill>
                        </a:defRPr>
                      </a:pPr>
                      <a:r>
                        <a:t>1.3%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4660"/>
                          </a:solidFill>
                        </a:defRPr>
                      </a:pPr>
                      <a:r>
                        <a:t>International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4660"/>
                          </a:solidFill>
                        </a:defRPr>
                      </a:pPr>
                      <a:r>
                        <a:t>Low (60% coding, 50% labs)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4660"/>
                          </a:solidFill>
                        </a:defRPr>
                      </a:pPr>
                      <a:r>
                        <a:t>0.45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D00D00"/>
                          </a:solidFill>
                        </a:defRPr>
                      </a:pPr>
                      <a:r>
                        <a:t>2.1%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846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07ACA"/>
                </a:solidFill>
              </a:defRPr>
            </a:pPr>
            <a:r>
              <a:t>The worst market has 2.4x the mispricing risk -- and standard metrics don't see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339"/>
                </a:solidFill>
              </a:defRPr>
            </a:pPr>
            <a:r>
              <a:t>I added Alzheimer's disease in one config file to prove the framework generalises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07ACA"/>
                </a:solidFill>
              </a:defRPr>
            </a:pPr>
            <a:r>
              <a:t>7 states from normal cognition to death -- all transition rates verified against PubMed systematic reviews</a:t>
            </a:r>
          </a:p>
        </p:txBody>
      </p:sp>
      <p:pic>
        <p:nvPicPr>
          <p:cNvPr id="4" name="Picture 3" descr="tmpjanybh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685800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2339"/>
                </a:solidFill>
              </a:defRPr>
            </a:pPr>
            <a:r>
              <a:t>Added as config:</a:t>
            </a:r>
          </a:p>
          <a:p>
            <a:pPr>
              <a:spcBef>
                <a:spcPts val="400"/>
              </a:spcBef>
              <a:defRPr sz="1200">
                <a:solidFill>
                  <a:srgbClr val="2B4660"/>
                </a:solidFill>
              </a:defRPr>
            </a:pPr>
            <a:r>
              <a:t>8 ICD-10 codes</a:t>
            </a:r>
          </a:p>
          <a:p>
            <a:pPr>
              <a:spcBef>
                <a:spcPts val="400"/>
              </a:spcBef>
              <a:defRPr sz="1200">
                <a:solidFill>
                  <a:srgbClr val="2B4660"/>
                </a:solidFill>
              </a:defRPr>
            </a:pPr>
            <a:r>
              <a:t>4 biomarkers (MMSE, MoCA, CSF)</a:t>
            </a:r>
          </a:p>
          <a:p>
            <a:pPr>
              <a:spcBef>
                <a:spcPts val="400"/>
              </a:spcBef>
              <a:defRPr sz="1200">
                <a:solidFill>
                  <a:srgbClr val="2B4660"/>
                </a:solidFill>
              </a:defRPr>
            </a:pPr>
            <a:r>
              <a:t>4 medications (ATC-coded)</a:t>
            </a:r>
          </a:p>
          <a:p>
            <a:pPr>
              <a:spcBef>
                <a:spcPts val="400"/>
              </a:spcBef>
              <a:defRPr sz="1200">
                <a:solidFill>
                  <a:srgbClr val="2B4660"/>
                </a:solidFill>
              </a:defRPr>
            </a:pPr>
            <a:r>
              <a:t>ApoE4 risk modifier</a:t>
            </a:r>
          </a:p>
          <a:p>
            <a:pPr>
              <a:spcBef>
                <a:spcPts val="400"/>
              </a:spcBef>
              <a:defRPr sz="1200">
                <a:solidFill>
                  <a:srgbClr val="028901"/>
                </a:solidFill>
              </a:defRPr>
            </a:pPr>
            <a:r>
              <a:t>Zero changes to the engine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339"/>
                </a:solidFill>
              </a:defRPr>
            </a:pPr>
            <a:r>
              <a:t>AI-driven underwriting solves five problems current methods cannot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515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267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What you need</a:t>
                      </a:r>
                    </a:p>
                  </a:txBody>
                  <a:tcPr>
                    <a:solidFill>
                      <a:srgbClr val="0D23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Rules / Actuarial</a:t>
                      </a:r>
                    </a:p>
                  </a:txBody>
                  <a:tcPr>
                    <a:solidFill>
                      <a:srgbClr val="0D23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Basic ML</a:t>
                      </a:r>
                    </a:p>
                  </a:txBody>
                  <a:tcPr>
                    <a:solidFill>
                      <a:srgbClr val="0D233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What I build</a:t>
                      </a:r>
                    </a:p>
                  </a:txBody>
                  <a:tcPr>
                    <a:solidFill>
                      <a:srgbClr val="0D2339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B4660"/>
                          </a:solidFill>
                        </a:defRPr>
                      </a:pPr>
                      <a:r>
                        <a:t>Know when to trust the 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B4660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B4660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28901"/>
                          </a:solidFill>
                        </a:defRPr>
                      </a:pPr>
                      <a:r>
                        <a:t>DQS + P(wrong) per case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B4660"/>
                          </a:solidFill>
                        </a:defRPr>
                      </a:pPr>
                      <a:r>
                        <a:t>Handle incomplete records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B4660"/>
                          </a:solidFill>
                        </a:defRPr>
                      </a:pPr>
                      <a:r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D00D00"/>
                          </a:solidFill>
                        </a:defRPr>
                      </a:pPr>
                      <a:r>
                        <a:t>Impute (creates PBW)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28901"/>
                          </a:solidFill>
                        </a:defRPr>
                      </a:pPr>
                      <a:r>
                        <a:t>Route to right model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B4660"/>
                          </a:solidFill>
                        </a:defRPr>
                      </a:pPr>
                      <a:r>
                        <a:t>Explain each 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B4660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B4660"/>
                          </a:solidFill>
                        </a:defRPr>
                      </a:pPr>
                      <a:r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28901"/>
                          </a:solidFill>
                        </a:defRPr>
                      </a:pPr>
                      <a:r>
                        <a:t>SHAP per patient + audit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B4660"/>
                          </a:solidFill>
                        </a:defRPr>
                      </a:pPr>
                      <a:r>
                        <a:t>Model disease progression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B4660"/>
                          </a:solidFill>
                        </a:defRPr>
                      </a:pPr>
                      <a:r>
                        <a:t>Static tables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B4660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28901"/>
                          </a:solidFill>
                        </a:defRPr>
                      </a:pPr>
                      <a:r>
                        <a:t>CTMC for any disease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B4660"/>
                          </a:solidFill>
                        </a:defRPr>
                      </a:pPr>
                      <a:r>
                        <a:t>EU AI Act compliance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B4660"/>
                          </a:solidFill>
                        </a:defRPr>
                      </a:pPr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D00D00"/>
                          </a:solidFill>
                        </a:defRPr>
                      </a:pPr>
                      <a:r>
                        <a:t>Difficult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28901"/>
                          </a:solidFill>
                        </a:defRPr>
                      </a:pPr>
                      <a:r>
                        <a:t>Built in from day 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3891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1788E"/>
                </a:solidFill>
              </a:defRPr>
            </a:pPr>
            <a:r>
              <a:t>Phase 3: LLM agents extract structured data from doctor notes across languages, generate natural language risk explanations, and continuously verify parameters against new literature.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339"/>
                </a:solidFill>
              </a:defRPr>
            </a:pPr>
            <a:r>
              <a:t>This is how I work: one person + Claude = output of a 5-person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07ACA"/>
                </a:solidFill>
              </a:defRPr>
            </a:pPr>
            <a:r>
              <a:t>3 years of Claude evaluation taught me exactly where AI works and where it needs human expertise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103120"/>
            <a:ext cx="548640" cy="548640"/>
          </a:xfrm>
          <a:prstGeom prst="rect">
            <a:avLst/>
          </a:prstGeom>
          <a:solidFill>
            <a:srgbClr val="107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21031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2339"/>
                </a:solidFill>
              </a:defRPr>
            </a:pPr>
            <a:r>
              <a:t>I define 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21031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B4660"/>
                </a:solidFill>
              </a:defRPr>
            </a:pPr>
            <a:r>
              <a:t>PBW in underwriting -- from my own published research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971800"/>
            <a:ext cx="548640" cy="548640"/>
          </a:xfrm>
          <a:prstGeom prst="rect">
            <a:avLst/>
          </a:prstGeom>
          <a:solidFill>
            <a:srgbClr val="0D2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9718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2339"/>
                </a:solidFill>
              </a:defRPr>
            </a:pPr>
            <a:r>
              <a:t>Claude builds the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29718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B4660"/>
                </a:solidFill>
              </a:defRPr>
            </a:pPr>
            <a:r>
              <a:t>Pipeline, models, tests, app -- 21,000 lines in 48 hours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840479"/>
            <a:ext cx="548640" cy="548640"/>
          </a:xfrm>
          <a:prstGeom prst="rect">
            <a:avLst/>
          </a:prstGeom>
          <a:solidFill>
            <a:srgbClr val="107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84047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2339"/>
                </a:solidFill>
              </a:defRPr>
            </a:pPr>
            <a:r>
              <a:t>I verify the science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3840479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B4660"/>
                </a:solidFill>
              </a:defRPr>
            </a:pPr>
            <a:r>
              <a:t>LLM agents query PubMed -- I validate against domain knowledge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709159"/>
            <a:ext cx="548640" cy="548640"/>
          </a:xfrm>
          <a:prstGeom prst="rect">
            <a:avLst/>
          </a:prstGeom>
          <a:solidFill>
            <a:srgbClr val="0D2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7091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2339"/>
                </a:solidFill>
              </a:defRPr>
            </a:pPr>
            <a:r>
              <a:t>Claude handles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4709159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B4660"/>
                </a:solidFill>
              </a:defRPr>
            </a:pPr>
            <a:r>
              <a:t>231 tests, 4 markets, 2 diseases, fact-checked, EU AI Act ready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577840"/>
            <a:ext cx="548640" cy="548640"/>
          </a:xfrm>
          <a:prstGeom prst="rect">
            <a:avLst/>
          </a:prstGeom>
          <a:solidFill>
            <a:srgbClr val="107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5577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2339"/>
                </a:solidFill>
              </a:defRPr>
            </a:pPr>
            <a:r>
              <a:t>I make the decisions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55778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B4660"/>
                </a:solidFill>
              </a:defRPr>
            </a:pPr>
            <a:r>
              <a:t>Architecture, clinical thresholds, what to show, what matters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339"/>
                </a:solidFill>
              </a:defRPr>
            </a:pPr>
            <a:r>
              <a:t>In 90 days I'd deliver calibrated PBW detection on real Allianz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3291840" cy="3200400"/>
          </a:xfrm>
          <a:prstGeom prst="rect">
            <a:avLst/>
          </a:prstGeom>
          <a:solidFill>
            <a:srgbClr val="E7F4FD"/>
          </a:solidFill>
          <a:ln>
            <a:solidFill>
              <a:srgbClr val="C4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7ACA"/>
                </a:solidFill>
              </a:defRPr>
            </a:pPr>
            <a:r>
              <a:t>Month 1</a:t>
            </a:r>
          </a:p>
          <a:p>
            <a:pPr>
              <a:spcBef>
                <a:spcPts val="600"/>
              </a:spcBef>
              <a:defRPr sz="1800" b="1">
                <a:solidFill>
                  <a:srgbClr val="0D2339"/>
                </a:solidFill>
              </a:defRPr>
            </a:pPr>
            <a:r>
              <a:t>Audit &amp; Map</a:t>
            </a:r>
          </a:p>
          <a:p>
            <a:pPr>
              <a:spcBef>
                <a:spcPts val="1000"/>
              </a:spcBef>
              <a:defRPr sz="1100">
                <a:solidFill>
                  <a:srgbClr val="2B4660"/>
                </a:solidFill>
              </a:defRPr>
            </a:pPr>
            <a:r>
              <a:t>Audit current underwriting pipeline for PBW risk. Map data quality across Allianz markets. Identify the 3 highest-impact failure modes.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554480"/>
            <a:ext cx="3291840" cy="3200400"/>
          </a:xfrm>
          <a:prstGeom prst="rect">
            <a:avLst/>
          </a:prstGeom>
          <a:solidFill>
            <a:srgbClr val="E7F4FD"/>
          </a:solidFill>
          <a:ln>
            <a:solidFill>
              <a:srgbClr val="C4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7ACA"/>
                </a:solidFill>
              </a:defRPr>
            </a:pPr>
            <a:r>
              <a:t>Month 2</a:t>
            </a:r>
          </a:p>
          <a:p>
            <a:pPr>
              <a:spcBef>
                <a:spcPts val="600"/>
              </a:spcBef>
              <a:defRPr sz="1800" b="1">
                <a:solidFill>
                  <a:srgbClr val="0D2339"/>
                </a:solidFill>
              </a:defRPr>
            </a:pPr>
            <a:r>
              <a:t>Calibrate &amp; Train</a:t>
            </a:r>
          </a:p>
          <a:p>
            <a:pPr>
              <a:spcBef>
                <a:spcPts val="1000"/>
              </a:spcBef>
              <a:defRPr sz="1100">
                <a:solidFill>
                  <a:srgbClr val="2B4660"/>
                </a:solidFill>
              </a:defRPr>
            </a:pPr>
            <a:r>
              <a:t>Calibrate DQS on real Allianz data. Retrain model router on actual data profiles. Deliver first real-data PBW prevalence estimate by market.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554480"/>
            <a:ext cx="3291840" cy="3200400"/>
          </a:xfrm>
          <a:prstGeom prst="rect">
            <a:avLst/>
          </a:prstGeom>
          <a:solidFill>
            <a:srgbClr val="E7F4FD"/>
          </a:solidFill>
          <a:ln>
            <a:solidFill>
              <a:srgbClr val="C4CD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7ACA"/>
                </a:solidFill>
              </a:defRPr>
            </a:pPr>
            <a:r>
              <a:t>Month 3</a:t>
            </a:r>
          </a:p>
          <a:p>
            <a:pPr>
              <a:spcBef>
                <a:spcPts val="600"/>
              </a:spcBef>
              <a:defRPr sz="1800" b="1">
                <a:solidFill>
                  <a:srgbClr val="0D2339"/>
                </a:solidFill>
              </a:defRPr>
            </a:pPr>
            <a:r>
              <a:t>Ship &amp; Document</a:t>
            </a:r>
          </a:p>
          <a:p>
            <a:pPr>
              <a:spcBef>
                <a:spcPts val="1000"/>
              </a:spcBef>
              <a:defRPr sz="1100">
                <a:solidFill>
                  <a:srgbClr val="2B4660"/>
                </a:solidFill>
              </a:defRPr>
            </a:pPr>
            <a:r>
              <a:t>Production prototype: REST API for per-case quality scoring. Validated PBW detection rates. EU AI Act compliance documentation.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07ACA"/>
                </a:solidFill>
              </a:defRPr>
            </a:pPr>
            <a:r>
              <a:t>I built this proof of concept in 48 hours. Imagine what I do with real data and 90 days.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D2339"/>
                </a:solidFill>
              </a:defRPr>
            </a:pPr>
            <a:r>
              <a:t>Let's build this together.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2B4660"/>
                </a:solidFill>
              </a:defRPr>
            </a:pPr>
            <a:r>
              <a:t>Tim Reska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566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1788E"/>
                </a:solidFill>
              </a:defRPr>
            </a:pPr>
            <a:r>
              <a:t>PhD Helmholtz Munich  |  8 publications  |  3 years evaluating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07ACA"/>
                </a:solidFill>
              </a:defRPr>
            </a:pPr>
            <a:r>
              <a:t>timreska@gmail.com  |  github.com/ttmgr  |  linkedin.com/in/timreska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3035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1788E"/>
                </a:solidFill>
              </a:defRPr>
            </a:pPr>
            <a:r>
              <a:t>All data in this demo is synthetic. The system, the science, and the skills are real.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