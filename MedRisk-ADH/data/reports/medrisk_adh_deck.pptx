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D2339"/>
                </a:solidFill>
              </a:defRPr>
            </a:pPr>
            <a:r>
              <a:t>MedRisk-ADH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7ACA"/>
                </a:solidFill>
              </a:defRPr>
            </a:pPr>
            <a:r>
              <a:t>AI-Augmented Medical Underwriting with Confidence-Calibrated Failure Mode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788E"/>
                </a:solidFill>
              </a:defRPr>
            </a:pPr>
            <a:r>
              <a:t>v2.0 | Proof of Concept | All data is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B4660"/>
                </a:solidFill>
              </a:defRPr>
            </a:pPr>
            <a:r>
              <a:t>Tim Reska | Helmholtz Munich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2339"/>
                </a:solidFill>
              </a:defRPr>
            </a:pPr>
            <a:r>
              <a:t>Tim Reska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7ACA"/>
                </a:solidFill>
              </a:defRPr>
            </a:pPr>
            <a:r>
              <a:t>PhD Researcher | Helmholtz Munich &amp; TU Munich | github.com/ttmgr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4660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2B4660"/>
                </a:solidFill>
              </a:defRPr>
            </a:pPr>
            <a:r>
              <a:t>"Plausible but Wrong" -- coined in my own peer-reviewed research (ISME Communications 2024). 22 LLMs evaluated over 36 months. Same concept applied to underwriting.</a:t>
            </a:r>
          </a:p>
          <a:p>
            <a:pPr>
              <a:spcBef>
                <a:spcPts val="400"/>
              </a:spcBef>
              <a:defRPr sz="1300">
                <a:solidFill>
                  <a:srgbClr val="2B4660"/>
                </a:solidFill>
              </a:defRPr>
            </a:pPr>
            <a:r>
              <a:t>3 years evaluating Claude (Sonnet 3.5 -&gt; 4.6). Integrated Claude + MCP into live pipelines, -40% development time.</a:t>
            </a:r>
          </a:p>
          <a:p>
            <a:pPr>
              <a:spcBef>
                <a:spcPts val="400"/>
              </a:spcBef>
              <a:defRPr sz="1300">
                <a:solidFill>
                  <a:srgbClr val="2B4660"/>
                </a:solidFill>
              </a:defRPr>
            </a:pPr>
            <a:r>
              <a:t>8 publications (Nature Communications). Invited speaker: ETH Zurich, Cambridge, TUM. 22,000+ accesses, 43+ citations.</a:t>
            </a:r>
          </a:p>
          <a:p>
            <a:pPr>
              <a:spcBef>
                <a:spcPts val="400"/>
              </a:spcBef>
              <a:defRPr sz="1300">
                <a:solidFill>
                  <a:srgbClr val="2B4660"/>
                </a:solidFill>
              </a:defRPr>
            </a:pPr>
            <a:r>
              <a:t>GenomicsForOneHealth: 10 pipelines across 7 international sites (DE/FR/ES). Led 12-site multinational surveillance campaign.</a:t>
            </a:r>
          </a:p>
          <a:p>
            <a:pPr>
              <a:spcBef>
                <a:spcPts val="400"/>
              </a:spcBef>
              <a:defRPr sz="1300">
                <a:solidFill>
                  <a:srgbClr val="2B4660"/>
                </a:solidFill>
              </a:defRPr>
            </a:pPr>
            <a:r>
              <a:t>Built this entire system in ~48 hours with Claude.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The Problem: Plausible-but-Wrong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4660"/>
                </a:solidFill>
              </a:defRPr>
            </a:pPr>
            <a:r>
              <a:t>Automated underwriting models produce confident predictions even when input data is incomplete. These predictions pass standard validation but lead to mispriced policies.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A 2% PBW rate across 100,000 policies = 2,000 mispriced decisions per year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Standard metrics (AUC, accuracy) do not detect PBW -- the prediction looks correct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EU AI Act 2024 requires reliability assessment for high-risk AI in insurance (Art. 14, 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The Solution: DQS + Reliability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4660"/>
                </a:solidFill>
              </a:defRPr>
            </a:pPr>
            <a:r>
              <a:t>A reliability layer on top of risk prediction: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Data Quality Score (DQS): 0.40 x completeness + 0.35 x consistency + 0.25 x recency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Data Profile: FULL / NO_LABS / NO_MEDS / MINIMAL -- one model per profile, no imputation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Reliability Head: learned P(wrong) with cost-optimal accept / review / reject decisions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JSON Lines audit trail for every decision (EU AI Act Art. 14 compliance)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v2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solidFill>
            <a:srgbClr val="EEF2F7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2339"/>
                </a:solidFill>
              </a:defRPr>
            </a:pPr>
            <a:r>
              <a:t>Patient Record  --&gt;  Data Profile  --&gt;  DQS v2  --&gt;  Model Router  --&gt;  Reliability Head  --&gt;  Decision + Audit</a:t>
            </a:r>
          </a:p>
          <a:p>
            <a:pPr algn="ctr">
              <a:defRPr sz="1000">
                <a:solidFill>
                  <a:srgbClr val="61788E"/>
                </a:solidFill>
              </a:defRPr>
            </a:pPr>
            <a:r>
              <a:t>what data available?       how good?        right model         P(wrong) + cost-optimal      accept/review/reject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466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No imputation: each data profile gets its own XGBoost model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Human override support with reason codes and audit linkage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Governance: JSON Lines audit trail, shift detection (PSI/JS divergence)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Multi-Market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4660"/>
                </a:solidFill>
              </a:defRPr>
            </a:pPr>
            <a:r>
              <a:t>4 European markets with controlled data quality degradation: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Coding Completeness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Lab Completeness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 DQS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PBW Rate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Germany (DE)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France (FR)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1.0%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Spain (ES)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4660"/>
                          </a:solidFill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ACA"/>
                </a:solidFill>
              </a:defRPr>
            </a:pPr>
            <a:r>
              <a:t>INT market has 2.4x the PBW rate of DE -- data quality directly drives prediction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PBW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4660"/>
                </a:solidFill>
              </a:defRPr>
            </a:pPr>
            <a:r>
              <a:t>High confidence + low data quality = plausible-but-wrong.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v1: fixed threshold (confidence &gt; 0.80 AND DQS &lt; 0.60)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v2: Reliability Head learns P(wrong) from validation errors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Cost-optimal: argmin of expected cost for accept/review/reject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Per-patient audit: P(wrong), DQS, model used, decision rationale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Disease Progression: Cardiovascular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4660"/>
                </a:solidFill>
              </a:defRPr>
            </a:pPr>
            <a:r>
              <a:t>5-state CTMC: Healthy --&gt; Risk Factors --&gt; Chronic Disease --&gt; Complication --&gt; Major Event</a:t>
            </a:r>
          </a:p>
        </p:txBody>
      </p:sp>
      <p:pic>
        <p:nvPicPr>
          <p:cNvPr id="4" name="Picture 3" descr="tmp8_4n567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Disease Progression: Alzheimer's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4660"/>
                </a:solidFill>
              </a:defRPr>
            </a:pPr>
            <a:r>
              <a:t>7-state CTMC: NC --&gt; SCD --&gt; MCI --&gt; Mild AD --&gt; Moderate AD --&gt; Severe AD --&gt; Death</a:t>
            </a:r>
          </a:p>
        </p:txBody>
      </p:sp>
      <p:pic>
        <p:nvPicPr>
          <p:cNvPr id="4" name="Picture 3" descr="tmpjpxcdo0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Generalizable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4660"/>
                </a:solidFill>
              </a:defRPr>
            </a:pPr>
            <a:r>
              <a:t>New diseases are added as data configurations -- no code changes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9"/>
                </a:solidFill>
              </a:defRPr>
            </a:pPr>
            <a:r>
              <a:t>Cardiovascular (5 states)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Healthy --&gt; Risk --&gt; Chronic --&gt; Complication --&gt; Death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10 lab values, 8 medication classes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56 ICD-10 codes across 28 categories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Charlson Comorbidity Index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9"/>
                </a:solidFill>
              </a:defRPr>
            </a:pPr>
            <a:r>
              <a:t>Alzheimer's (7 states)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NC --&gt; SCD --&gt; MCI --&gt; Mild --&gt; Moderate --&gt; Severe --&gt; Death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MMSE, MoCA, CSF biomarkers, ApoE4 genotype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8 ICD-10 codes (G30.x, F00.x), 4 medications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Graduated ApoE4 risk modifier by disease stage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Why AI? Beyond Rule-Based Underwriting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Rules / Actuarial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Basic ML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MedRisk-ADH (AI)</a:t>
                      </a:r>
                    </a:p>
                  </a:txBody>
                  <a:tcPr>
                    <a:solidFill>
                      <a:srgbClr val="0D233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Per-case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Yes (DQS + P(wrong))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Handles missing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Reject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Impute (PBW 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Route to right model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Individual risk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SHAP per patient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Disease 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Static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CTMC (any disease)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Confidence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Uncalibrated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Cost-optimal decisions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JSON Lines per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EU AI Act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B4660"/>
                          </a:solidFill>
                        </a:defRPr>
                      </a:pPr>
                      <a:r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28901"/>
                          </a:solidFill>
                        </a:defRPr>
                      </a:pPr>
                      <a:r>
                        <a:t>Built-in (Art. 14, 15)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9"/>
                </a:solidFill>
              </a:defRPr>
            </a:pPr>
            <a:r>
              <a:t>LLM Extension (Phase 3 Vision):</a:t>
            </a:r>
          </a:p>
          <a:p>
            <a:pPr>
              <a:spcBef>
                <a:spcPts val="400"/>
              </a:spcBef>
              <a:defRPr sz="1200">
                <a:solidFill>
                  <a:srgbClr val="2B4660"/>
                </a:solidFill>
              </a:defRPr>
            </a:pPr>
            <a:r>
              <a:t>Unstructured record extraction -- LLMs read doctor notes in DE/FR/ES/EN</a:t>
            </a:r>
          </a:p>
          <a:p>
            <a:pPr>
              <a:spcBef>
                <a:spcPts val="400"/>
              </a:spcBef>
              <a:defRPr sz="1200">
                <a:solidFill>
                  <a:srgbClr val="2B4660"/>
                </a:solidFill>
              </a:defRPr>
            </a:pPr>
            <a:r>
              <a:t>Natural language explanations -- human-readable risk narratives instead of SHAP values</a:t>
            </a:r>
          </a:p>
          <a:p>
            <a:pPr>
              <a:spcBef>
                <a:spcPts val="400"/>
              </a:spcBef>
              <a:defRPr sz="1200">
                <a:solidFill>
                  <a:srgbClr val="2B4660"/>
                </a:solidFill>
              </a:defRPr>
            </a:pPr>
            <a:r>
              <a:t>Literature-calibrated parameters -- LLM agents verify rates against PubMed continuously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Validation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2743200" cy="1828800"/>
          </a:xfrm>
          <a:prstGeom prst="rect">
            <a:avLst/>
          </a:prstGeom>
          <a:solidFill>
            <a:srgbClr val="E7F4FD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D2339"/>
                </a:solidFill>
              </a:defRPr>
            </a:pPr>
            <a:r>
              <a:t>231</a:t>
            </a:r>
          </a:p>
          <a:p>
            <a:pPr algn="ctr">
              <a:defRPr sz="1200">
                <a:solidFill>
                  <a:srgbClr val="107ACA"/>
                </a:solidFill>
              </a:defRPr>
            </a:pPr>
            <a:r>
              <a:t>Tests Passing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645920"/>
            <a:ext cx="2743200" cy="1828800"/>
          </a:xfrm>
          <a:prstGeom prst="rect">
            <a:avLst/>
          </a:prstGeom>
          <a:solidFill>
            <a:srgbClr val="E7F4FD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D2339"/>
                </a:solidFill>
              </a:defRPr>
            </a:pPr>
            <a:r>
              <a:t>0.71</a:t>
            </a:r>
          </a:p>
          <a:p>
            <a:pPr algn="ctr">
              <a:defRPr sz="1200">
                <a:solidFill>
                  <a:srgbClr val="107ACA"/>
                </a:solidFill>
              </a:defRPr>
            </a:pPr>
            <a:r>
              <a:t>AUC-ROC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645920"/>
            <a:ext cx="2743200" cy="1828800"/>
          </a:xfrm>
          <a:prstGeom prst="rect">
            <a:avLst/>
          </a:prstGeom>
          <a:solidFill>
            <a:srgbClr val="E7F4FD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D2339"/>
                </a:solidFill>
              </a:defRPr>
            </a:pPr>
            <a:r>
              <a:t>0.010</a:t>
            </a:r>
          </a:p>
          <a:p>
            <a:pPr algn="ctr">
              <a:defRPr sz="1200">
                <a:solidFill>
                  <a:srgbClr val="107ACA"/>
                </a:solidFill>
              </a:defRPr>
            </a:pPr>
            <a:r>
              <a:t>Brier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2743200" cy="1828800"/>
          </a:xfrm>
          <a:prstGeom prst="rect">
            <a:avLst/>
          </a:prstGeom>
          <a:solidFill>
            <a:srgbClr val="E7F4FD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D2339"/>
                </a:solidFill>
              </a:defRPr>
            </a:pPr>
            <a:r>
              <a:t>0.72</a:t>
            </a:r>
          </a:p>
          <a:p>
            <a:pPr algn="ctr">
              <a:defRPr sz="1200">
                <a:solidFill>
                  <a:srgbClr val="107ACA"/>
                </a:solidFill>
              </a:defRPr>
            </a:pPr>
            <a:r>
              <a:t>C-index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931920"/>
            <a:ext cx="2743200" cy="1828800"/>
          </a:xfrm>
          <a:prstGeom prst="rect">
            <a:avLst/>
          </a:prstGeom>
          <a:solidFill>
            <a:srgbClr val="E7F4FD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D2339"/>
                </a:solidFill>
              </a:defRPr>
            </a:pPr>
            <a:r>
              <a:t>4,000</a:t>
            </a:r>
          </a:p>
          <a:p>
            <a:pPr algn="ctr">
              <a:defRPr sz="1200">
                <a:solidFill>
                  <a:srgbClr val="107ACA"/>
                </a:solidFill>
              </a:defRPr>
            </a:pPr>
            <a:r>
              <a:t>Synthetic Patients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931920"/>
            <a:ext cx="2743200" cy="1828800"/>
          </a:xfrm>
          <a:prstGeom prst="rect">
            <a:avLst/>
          </a:prstGeom>
          <a:solidFill>
            <a:srgbClr val="E7F4FD"/>
          </a:solidFill>
          <a:ln>
            <a:solidFill>
              <a:srgbClr val="C4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D2339"/>
                </a:solidFill>
              </a:defRPr>
            </a:pPr>
            <a:r>
              <a:t>2</a:t>
            </a:r>
          </a:p>
          <a:p>
            <a:pPr algn="ctr">
              <a:defRPr sz="1200">
                <a:solidFill>
                  <a:srgbClr val="107ACA"/>
                </a:solidFill>
              </a:defRPr>
            </a:pPr>
            <a:r>
              <a:t>Disease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339"/>
                </a:solidFill>
              </a:defRPr>
            </a:pPr>
            <a:r>
              <a:t>What I'd Do in the First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466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Month 1: Audit current pipeline for PBW risk. Map data quality across Allianz markets.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Month 2: Calibrate DQS on real data. First real-data PBW prevalence estimate.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Month 3: Production prototype with REST API, validated detection rates, EU AI Act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9"/>
                </a:solidFill>
              </a:defRPr>
            </a:pPr>
            <a:r>
              <a:t>What you get: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I built this entire system in ~48 hours with Claude -- imagine 90 days with real data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PhD bioinformatics + AI tools = output that normally takes a team of 3-5 developers</a:t>
            </a:r>
          </a:p>
          <a:p>
            <a:pPr>
              <a:spcBef>
                <a:spcPts val="400"/>
              </a:spcBef>
              <a:defRPr sz="1400">
                <a:solidFill>
                  <a:srgbClr val="2B4660"/>
                </a:solidFill>
              </a:defRPr>
            </a:pPr>
            <a:r>
              <a:t>Domain expertise: genomics, disease progression, clinical coding, EU AI 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D233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B4660"/>
                </a:solidFill>
              </a:defRPr>
            </a:pPr>
            <a:r>
              <a:t>Tim Reska | Helmholtz Munich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788E"/>
                </a:solidFill>
              </a:defRPr>
            </a:pPr>
            <a:r>
              <a:t>Proof of Concept | All data is synthetic |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