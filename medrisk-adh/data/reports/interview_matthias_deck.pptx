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Vorstellung: Tim Reska, PhD Genomik &amp; Bioinformatik, Helmholtz Munich / TUM. Biochemie-Master LMU.</a:t>
            </a:r>
          </a:p>
          <a:p/>
          <a:p>
            <a:r>
              <a:t>Ich komme nicht als fertiger Medical Underwriter. Ich komme als jemand, der an der Schnittstelle zwischen klinischer Evidenz und algorithmischen Systemen arbeitet — genau das, was die Stelle beschreibt: 'Working at the intersection of medicine, technology, and data.'</a:t>
            </a:r>
          </a:p>
          <a:p/>
          <a:p>
            <a:r>
              <a:t>Mein Hintergrund: 7 Jahre Versicherung (ERGO / Munich Re), PhD in Genomik mit Fokus auf State-Transition-Modellierung, und 36 Monate systematische Evaluation von KI-Systemen.</a:t>
            </a:r>
          </a:p>
          <a:p/>
          <a:p>
            <a:r>
              <a:t>Was mich antreibt: Die Frage, wie man sicherstellt, dass algorithmische Entscheidungen in hochregulierten Domaenen nicht nur plausibel aussehen — sondern tatsaechlich korrekt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Hypertonie ist das perfekte Beispiel fuer das Problem:</a:t>
            </a:r>
          </a:p>
          <a:p/>
          <a:p>
            <a:r>
              <a:t>Gleicher ICD-Code I10, vier komplett verschiedene Risikoprofile:</a:t>
            </a:r>
          </a:p>
          <a:p/>
          <a:p>
            <a:r>
              <a:t>1. Grad 1, kontrolliert (RR &lt;140/90, 1 Med, keine TOD):</a:t>
            </a:r>
          </a:p>
          <a:p>
            <a:r>
              <a:t>   3% AU/Jahr, 14 Tage mittlere Dauer. Standard-Rating.</a:t>
            </a:r>
          </a:p>
          <a:p>
            <a:r>
              <a:t>   Entscheidend: eGFR &gt;60, kein LVH, Lipide normal.</a:t>
            </a:r>
          </a:p>
          <a:p/>
          <a:p>
            <a:r>
              <a:t>2. Grad 2, Dauertherapie (RR 160/100, 2-3 Meds):</a:t>
            </a:r>
          </a:p>
          <a:p>
            <a:r>
              <a:t>   12% AU/Jahr, 28 Tage. Table B-D.</a:t>
            </a:r>
          </a:p>
          <a:p>
            <a:r>
              <a:t>   Triple-Therapie = Schweregrad-Marker.</a:t>
            </a:r>
          </a:p>
          <a:p/>
          <a:p>
            <a:r>
              <a:t>3. Grad 2-3 + Target Organ Damage (LVH, CKD 3, Retinopathie):</a:t>
            </a:r>
          </a:p>
          <a:p>
            <a:r>
              <a:t>   35% AU/Jahr, 42 Tage. Table F-H.</a:t>
            </a:r>
          </a:p>
          <a:p>
            <a:r>
              <a:t>   eGFR 30-59 = massiv erhoehte Excess Mortality.</a:t>
            </a:r>
          </a:p>
          <a:p/>
          <a:p>
            <a:r>
              <a:t>4. Post-MI / Post-Stroke:</a:t>
            </a:r>
          </a:p>
          <a:p>
            <a:r>
              <a:t>   80% AU/Jahr, 120 Tage. Decline.</a:t>
            </a:r>
          </a:p>
          <a:p/>
          <a:p>
            <a:r>
              <a:t>Ein Algorithmus, der nur den ICD-Code sieht, behandelt alle vier Patienten gleich. Das ist nicht falsch im Sinne eines Bugs — es sieht plausibel aus, ist aber systematisch falsch. Genau dieses Muster habe ich in einem anderen Kontext wissenschaftlich nachgewiesen.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LLM-Benchmark im Detail:</a:t>
            </a:r>
          </a:p>
          <a:p/>
          <a:p>
            <a:r>
              <a:t>Aufgabe: Nanopore-Metagenomik-Pipeline konstruieren — ein 7-schrittiger bioinformatischer Workflow.</a:t>
            </a:r>
          </a:p>
          <a:p/>
          <a:p>
            <a:r>
              <a:t>Evaluationsdesign: Stateless Cumulative Prompting — jeder Schritt in frischer Session, Kontext manuell weitergegeben. Testet, ob Modelle Korrektheit bewahren, wenn sie sich auf expliziten State verlassen muessen statt auf implizite Reparatur.</a:t>
            </a:r>
          </a:p>
          <a:p/>
          <a:p>
            <a:r>
              <a:t>Was passiert: Modelle generieren Code, der lokal korrekt aussieht — richtige Syntax, plausible Parameter, korrekte Tool-Namen. Aber: Illumina-Schwellenwerte auf Nanopore-Daten anwenden (Q30 statt Q8), Short-Read-Tools fuer Long-Read-Daten (FastQC statt NanoPlot), unvollstaendige Polishing-Protokolle.</a:t>
            </a:r>
          </a:p>
          <a:p/>
          <a:p>
            <a:r>
              <a:t>DeepSeek V3: Alle 7 Schritte falsch (I/I/F/I/N). Nicht offensichtlich falsch — sondern plausibel falsch. Ein Reviewer ohne Domaenenwissen wuerde den Output akzeptieren.</a:t>
            </a:r>
          </a:p>
          <a:p/>
          <a:p>
            <a:r>
              <a:t>Uebertragung auf Underwriting: Gleicher Failure Mode. Ein Algorithmus, der I10 sieht und Standard-Rating vergibt, macht keinen offensichtlichen Fehler. Er macht einen plausiblen Fehler — weil ihm das Domaenenwissen fehlt, um die Stadien zu unterscheiden.</a:t>
            </a:r>
          </a:p>
          <a:p/>
          <a:p>
            <a:r>
              <a:t>Das ist der Kern meiner Arbeit: Nicht bessere Modelle bauen, sondern Frameworks, die erkennen, WANN Modelle falsch liegen.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Evidence-Tier Framework aus meiner Dissertation:</a:t>
            </a:r>
          </a:p>
          <a:p/>
          <a:p>
            <a:r>
              <a:t>Systematische Klassifikation der Beweisqualitaet an jedem Inferenzschritt. Entwickelt fuer Bioinformatik-Pipelines, aber direkt uebertragbar auf Underwriting.</a:t>
            </a:r>
          </a:p>
          <a:p/>
          <a:p>
            <a:r>
              <a:t>T1 — Leitlinien &amp; Meta-Analysen:</a:t>
            </a:r>
          </a:p>
          <a:p>
            <a:r>
              <a:t>- ESC Guidelines Hypertonie 2023</a:t>
            </a:r>
          </a:p>
          <a:p>
            <a:r>
              <a:t>- KDIGO Leitlinie CKD</a:t>
            </a:r>
          </a:p>
          <a:p>
            <a:r>
              <a:t>- NVL Depression (S3)</a:t>
            </a:r>
          </a:p>
          <a:p>
            <a:r>
              <a:t>- Cochrane Reviews</a:t>
            </a:r>
          </a:p>
          <a:p>
            <a:r>
              <a:t>Hoechste Evidenzqualitaet. Underwriting-Regeln, die darauf basieren, sind am staerksten fundiert.</a:t>
            </a:r>
          </a:p>
          <a:p/>
          <a:p>
            <a:r>
              <a:t>T2 — Kohortenstudien &amp; Claims-Daten:</a:t>
            </a:r>
          </a:p>
          <a:p>
            <a:r>
              <a:t>- Framingham Heart Study (CVD-Risiko)</a:t>
            </a:r>
          </a:p>
          <a:p>
            <a:r>
              <a:t>- SCORE2 (10-Jahres-Risiko)</a:t>
            </a:r>
          </a:p>
          <a:p>
            <a:r>
              <a:t>- InGef (DE Claims, 8 Mio Versicherte)</a:t>
            </a:r>
          </a:p>
          <a:p>
            <a:r>
              <a:t>- RKI DEGS1 (Praevalenz)</a:t>
            </a:r>
          </a:p>
          <a:p>
            <a:r>
              <a:t>Gute Evidenz, aber abhaengig von Population und Zeitraum.</a:t>
            </a:r>
          </a:p>
          <a:p/>
          <a:p>
            <a:r>
              <a:t>T3 — Expert Judgment:</a:t>
            </a:r>
          </a:p>
          <a:p>
            <a:r>
              <a:t>- Einzelfallentscheidungen erfahrener Underwriter</a:t>
            </a:r>
          </a:p>
          <a:p>
            <a:r>
              <a:t>- Erfahrungswerte ('das haben wir immer so gemacht')</a:t>
            </a:r>
          </a:p>
          <a:p>
            <a:r>
              <a:t>- Nicht schlecht — aber nicht auditierbar, nicht reproduzierbar.</a:t>
            </a:r>
          </a:p>
          <a:p/>
          <a:p>
            <a:r>
              <a:t>Konkretes Beispiel aus dem KTG-Underwriting-Manual:</a:t>
            </a:r>
          </a:p>
          <a:p>
            <a:r>
              <a:t>Case 1: F32.1 in Remission &gt;36 Monate. Algorithmus sagt Decline. Erfahrener Underwriter sagt: Accept + 10% Loading. Evidenzbasis? T2/T3 — Kohortendaten zeigen Rueckfallrate &lt;20% nach 3 Jahren, plus Expert Judgment. Wenn das getaggt ist, kann man die Entscheidung auditieren und den Algorithmus entsprechend anpassen.</a:t>
            </a:r>
          </a:p>
          <a:p/>
          <a:p>
            <a:r>
              <a:t>Case 6: E11 + I10 + E78 (metabolisches Syndrom). Algorithmus stackt naiv 45% Loading. Erfahrener Underwriter reduziert auf 25-30% (integrierte Bewertung). Evidenzbasis? T1 (ESC CV Risk Guidelines) — das Gesamtrisiko ist nicht die Summe der Einzelrisiken.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Warum das regulatorisch entscheidend ist:</a:t>
            </a:r>
          </a:p>
          <a:p/>
          <a:p>
            <a:r>
              <a:t>EU AI Act (Verordnung 2024/1689) klassifiziert KI-Systeme fuer Krankenversicherungs-Underwriting als Hochrisiko — Annex III, Punkt 5(a). Enforcement ab August 2026.</a:t>
            </a:r>
          </a:p>
          <a:p/>
          <a:p>
            <a:r>
              <a:t>Aber: Nicht alles ist gleich reguliert. Art. 6(3) definiert Ausnahmen fuer 'enge prozedurale Aufgaben'.</a:t>
            </a:r>
          </a:p>
          <a:p/>
          <a:p>
            <a:r>
              <a:t>SCHICHT 1 — LLM-Assistenz moeglich, kein High-Risk:</a:t>
            </a:r>
          </a:p>
          <a:p>
            <a:r>
              <a:t>- OCR/NER aus Arztbriefen (Datenextraktion)</a:t>
            </a:r>
          </a:p>
          <a:p>
            <a:r>
              <a:t>- Dokumenten-Routing und -Sortierung</a:t>
            </a:r>
          </a:p>
          <a:p>
            <a:r>
              <a:t>- Datenqualitaetspruefung (ist die Akte vollstaendig?)</a:t>
            </a:r>
          </a:p>
          <a:p>
            <a:r>
              <a:t>- ICD-10/ATC-Code-Extraktion</a:t>
            </a:r>
          </a:p>
          <a:p>
            <a:r>
              <a:t>- Portfolio-Analytik (aggregiert, nicht individuell)</a:t>
            </a:r>
          </a:p>
          <a:p/>
          <a:p>
            <a:r>
              <a:t>SCHICHT 2 — High-Risk, volle Compliance (Art. 9-15):</a:t>
            </a:r>
          </a:p>
          <a:p>
            <a:r>
              <a:t>- Individuelle Risikobewertung</a:t>
            </a:r>
          </a:p>
          <a:p>
            <a:r>
              <a:t>- Individuelle Preisgestaltung (KTG-Kalkulation)</a:t>
            </a:r>
          </a:p>
          <a:p>
            <a:r>
              <a:t>- Jedes Profiling mit Gesundheitsdaten</a:t>
            </a:r>
          </a:p>
          <a:p>
            <a:r>
              <a:t>Hier braucht es: interpretierbare Modelle (kein Black-Box-LLM), Audit-Trail (Art. 12), Human Override (Art. 14), technische Dokumentation (Art. 11), Erklaerbarkeit (Art. 13).</a:t>
            </a:r>
          </a:p>
          <a:p/>
          <a:p>
            <a:r>
              <a:t>LLMs sind fuer Schicht 2 regulatorisch problematisch:</a:t>
            </a:r>
          </a:p>
          <a:p>
            <a:r>
              <a:t>- Nicht deterministisch (gleicher Input, anderer Output)</a:t>
            </a:r>
          </a:p>
          <a:p>
            <a:r>
              <a:t>- Nicht auditierbar (Reasoning nicht nachvollziehbar)</a:t>
            </a:r>
          </a:p>
          <a:p>
            <a:r>
              <a:t>- Nicht erklaerbar genug fuer BaFin-Pruefungen</a:t>
            </a:r>
          </a:p>
          <a:p/>
          <a:p>
            <a:r>
              <a:t>Mein Ansatz ist explizit NICHT 'LLMs fuer alles'. Sondern: LLMs wo erlaubt und sinnvoll (Schicht 1), regelbasierte und interpretierbare Modelle wo regulatorisch geboten (Schicht 2). Diese Unterscheidung zu verstehen und zu operationalisieren — das ist der methodische Beitrag, den ich mitbringe.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 — was ich zum KTG-Tool beitragen kann:</a:t>
            </a:r>
          </a:p>
          <a:p/>
          <a:p>
            <a:r>
              <a:t>1. DATENQUALITAETSPRUEFUNG (Schicht-1 Gatekeeper):</a:t>
            </a:r>
          </a:p>
          <a:p>
            <a:r>
              <a:t>Der Data Quality Score (DQS) prueft pro Akte:</a:t>
            </a:r>
          </a:p>
          <a:p>
            <a:r>
              <a:t>- Vollstaendigkeit: Sind Diagnosen, Meds, Labore da?</a:t>
            </a:r>
          </a:p>
          <a:p>
            <a:r>
              <a:t>- Konsistenz: Passen die Daten zusammen? (Metformin ohne Diabetes-Code = uncodierter Diabetes)</a:t>
            </a:r>
          </a:p>
          <a:p>
            <a:r>
              <a:t>- Aktualitaet: Wie alt sind die Labore?</a:t>
            </a:r>
          </a:p>
          <a:p>
            <a:r>
              <a:t>DQS = 0.40*Completeness + 0.35*Consistency + 0.25*Recency</a:t>
            </a:r>
          </a:p>
          <a:p/>
          <a:p>
            <a:r>
              <a:t>Ergebnis: Akte ratebar (DQS &gt;= 0.80) oder nicht ratebar (DQS &lt; 0.60 = Postpone, Nachuntersuchung anfordern).</a:t>
            </a:r>
          </a:p>
          <a:p/>
          <a:p>
            <a:r>
              <a:t>Das ist Schicht 1 — kein High-Risk, sofort implementierbar.</a:t>
            </a:r>
          </a:p>
          <a:p/>
          <a:p>
            <a:r>
              <a:t>2. EVIDENCE-TIER TAGGING:</a:t>
            </a:r>
          </a:p>
          <a:p>
            <a:r>
              <a:t>Jede Underwriting-Regel im KTG-Tool bekommt ein Tag:</a:t>
            </a:r>
          </a:p>
          <a:p>
            <a:r>
              <a:t>- T1: 'I10 + eGFR&lt;30 = Decline' (KDIGO Leitlinie)</a:t>
            </a:r>
          </a:p>
          <a:p>
            <a:r>
              <a:t>- T2: 'F32.1 Remission &gt;36Mo = Standard' (Kohortendaten)</a:t>
            </a:r>
          </a:p>
          <a:p>
            <a:r>
              <a:t>- T3: 'Physiotherapeut + M51.1 = erhoehtes Risiko' (Expert)</a:t>
            </a:r>
          </a:p>
          <a:p>
            <a:r>
              <a:t>Vorteil: Auditierbar fuer BaFin, priorisierbar fuer Updates.</a:t>
            </a:r>
          </a:p>
          <a:p/>
          <a:p>
            <a:r>
              <a:t>3. RED-TEAM HARNESS:</a:t>
            </a:r>
          </a:p>
          <a:p>
            <a:r>
              <a:t>Analog zum LLM-Benchmark: Systematisch Grenzfaelle testen.</a:t>
            </a:r>
          </a:p>
          <a:p>
            <a:r>
              <a:t>- Bariatrische OP + E66-Code: Algorithmus sieht Adipositas, aber Patient hat 40kg verloren. Richtig: Risk Reversal.</a:t>
            </a:r>
          </a:p>
          <a:p>
            <a:r>
              <a:t>- F33.1 mit 3 Episoden: Algorithmus gibt 25% Loading, aber erfahrener Underwriter wuerde Decline empfehlen.</a:t>
            </a:r>
          </a:p>
          <a:p>
            <a:r>
              <a:t>- I48 + I10: Naives Stacking ueberschaetzt Risiko.</a:t>
            </a:r>
          </a:p>
          <a:p/>
          <a:p>
            <a:r>
              <a:t>Das PBW-Scatter-Diagramm (unten rechts) zeigt den Proof of Concept: Hohe Konfidenz bei niedriger Datenqualitaet = PBW-Zone. Genau dort scheitern Algorithmen 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Transparenz ueber Staerken und Luecken:</a:t>
            </a:r>
          </a:p>
          <a:p/>
          <a:p>
            <a:r>
              <a:t>Was ich mitbringe:</a:t>
            </a:r>
          </a:p>
          <a:p/>
          <a:p>
            <a:r>
              <a:t>Persoenlicher Kontext: Mein Vater hatte den vollstaendigen Krankheitsverlauf, den Underwriter als Risikostufen bewerten: Hypertonie Grad 1 -&gt; Grad 2 -&gt; Grad 3 mit TOD -&gt; MI -&gt; CKD -&gt; Dialyse -&gt; Tod. Ich war bei allem dabei. Ich weiss, wie Diagnosen im Alltag aussehen, wie Komorbiditaet sich real anfuehlt, warum Datenqualitaet keine akademische Frage ist.</a:t>
            </a:r>
          </a:p>
          <a:p/>
          <a:p>
            <a:r>
              <a:t>Wissenschaftliche Methodik:</a:t>
            </a:r>
          </a:p>
          <a:p>
            <a:r>
              <a:t>- Evidence-Tier Framework: Systematische Klassifikation der Beweisqualitaet an jedem Inferenzschritt</a:t>
            </a:r>
          </a:p>
          <a:p>
            <a:r>
              <a:t>- PBW-Detection: Framework zur Erkennung von 'plausible but wrong' Entscheidungen in algorithmischen Systemen</a:t>
            </a:r>
          </a:p>
          <a:p>
            <a:r>
              <a:t>- LLM-Benchmark: 28 Modelle, 196 Bewertungen, publiziert</a:t>
            </a:r>
          </a:p>
          <a:p>
            <a:r>
              <a:t>- State-Transition-Modellierung: CTMC, direkt uebertragbar auf Krankheitsprogression</a:t>
            </a:r>
          </a:p>
          <a:p/>
          <a:p>
            <a:r>
              <a:t>Versicherungserfahrung: 7 Jahre ERGO (Munich Re Tochter). Ich kenne regulierte Prozesse, Compliance-Anforderungen, und wie Underwriting heute in der Praxis funktioniert.</a:t>
            </a:r>
          </a:p>
          <a:p/>
          <a:p>
            <a:r>
              <a:t>Was ich noch brauche:</a:t>
            </a:r>
          </a:p>
          <a:p>
            <a:r>
              <a:t>Ich bin kein MD und kein erfahrener Underwriter. Ich brauche klinische Experten, die Leitlinien interpretieren, Einzelfaelle bewerten, und Prognosen einschaetzen. Und ich brauche Underwriting-Praktiker, die Rating-Tabellen kennen und Schadenverlaeufe gelesen haben.</a:t>
            </a:r>
          </a:p>
          <a:p/>
          <a:p>
            <a:r>
              <a:t>Meine Rolle: Sicherstellen, dass deren Expertise korrekt in Algorithmen uebersetzt wird — nachweisbar, auditierbar, klinisch integer. Das ist die Bruecke.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Roadmap. Keine '90-Tage-Plan'-Folie. Stattdessen eine ehrliche Frage:</a:t>
            </a:r>
          </a:p>
          <a:p/>
          <a:p>
            <a:r>
              <a:t>Wo sind die groessten Schwachstellen im aktuellen KTG-Tool?</a:t>
            </a:r>
          </a:p>
          <a:p/>
          <a:p>
            <a:r>
              <a:t>Moegliche Antworten, auf die ich vorbereitet bin:</a:t>
            </a:r>
          </a:p>
          <a:p/>
          <a:p>
            <a:r>
              <a:t>- 'Datenqualitaet ist unser groesstes Problem' -&gt; DQS als Schicht-1 Gatekeeper, sofort pilotierbar</a:t>
            </a:r>
          </a:p>
          <a:p/>
          <a:p>
            <a:r>
              <a:t>- 'Komorbiditaeten werden naiv gestackt' -&gt; Evidence-Tier Tagging + integrierte Risikobewertung (Case 6: E11+I10+E78)</a:t>
            </a:r>
          </a:p>
          <a:p/>
          <a:p>
            <a:r>
              <a:t>- 'Wir wissen nicht, wo der Algorithmus falsch liegt' -&gt; Red-Team Harness mit systematischen Grenzfaellen</a:t>
            </a:r>
          </a:p>
          <a:p/>
          <a:p>
            <a:r>
              <a:t>- 'EU AI Act Compliance ist unklar' -&gt; Zwei-Schichten-Modell, Art. 6(3) vs. Art. 9-15</a:t>
            </a:r>
          </a:p>
          <a:p/>
          <a:p>
            <a:r>
              <a:t>- 'Wir brauchen bessere Modelle' -&gt; Nicht mein primaerer Pitch. Aber: Modelle ohne Datenqualitaetspruefung sind wie Formel-1-Autos auf unbefestigter Strasse.</a:t>
            </a:r>
          </a:p>
          <a:p/>
          <a:p>
            <a:r>
              <a:t>Das Gespraech soll Haerings Problem in den Mittelpunkt stellen — nicht mein System. Ich biete den methodischen Beitrag an, er definiert das Problem. Zusammen ergibt das einen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Interview  |  Allianz Digital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Algorithmische Integritaet</a:t>
            </a:r>
            <a:br/>
            <a:r>
              <a:t>im Underwriting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C4DE"/>
                </a:solidFill>
                <a:latin typeface="Calibri"/>
              </a:defRPr>
            </a:pPr>
            <a:r>
              <a:t>Bruecke zwischen klinischer Evidenz und KI-Systemen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36576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Tim Reska  ·  Helmholtz Munich  ·  PhD Genomik &amp; Bioinformatik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9"/>
                </a:solidFill>
                <a:latin typeface="Calibri"/>
              </a:defRPr>
            </a:pPr>
            <a:r>
              <a:t>Underwriting-Algorithmen scheitern still —</a:t>
            </a:r>
            <a:br/>
            <a:r>
              <a:t>gleicher ICD-Code, 8x unterschiedliches Risiko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Hypertonie (I10): 30 % Praevalenz (RKI DEGS1). AU-Varianz von 3 % bis 80 % je nach Stadium. Algorithmen, die das nicht abbilden, produzieren systematisch plausible aber falsche Entscheidungen.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Tim Reska  |  Helmholtz Munich  |  April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9"/>
                </a:solidFill>
                <a:latin typeface="Calibri"/>
              </a:defRPr>
            </a:pPr>
            <a:r>
              <a:t>36 Monate LLM-Benchmark ueber 28 Modelle belegen:</a:t>
            </a:r>
            <a:br/>
            <a:r>
              <a:t>'Plausible but Wrong' ist ein systematisches Muster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0584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Validiert gegen peer-reviewed Pipeline (Reska et al., ISME Communications 2024, DOI: 10.1093/ismeco/ycae058)</a:t>
            </a:r>
          </a:p>
          <a:p>
            <a:pPr>
              <a:spcBef>
                <a:spcPts val="400"/>
              </a:spcBef>
              <a:defRPr sz="900" b="0">
                <a:solidFill>
                  <a:srgbClr val="333333"/>
                </a:solidFill>
                <a:latin typeface="Calibri"/>
              </a:defRPr>
            </a:pPr>
            <a:r>
              <a:t>28 Modelle (GPT-4o/5/o1-pro, Claude Sonnet/Opus, Gemini 2.0–3.1, DeepSeek V3, GLM-5) | 7 Pipeline-Schritte | 196 bewertete Ergebnisse</a:t>
            </a:r>
          </a:p>
          <a:p>
            <a:pPr>
              <a:spcBef>
                <a:spcPts val="400"/>
              </a:spcBef>
              <a:defRPr sz="900" b="0">
                <a:solidFill>
                  <a:srgbClr val="333333"/>
                </a:solidFill>
                <a:latin typeface="Calibri"/>
              </a:defRPr>
            </a:pPr>
            <a:r>
              <a:t>Kernbefund: Lokale Plausibilitaet reicht nicht fuer End-to-End Validitaet — Fehler konzentrieren sich dort, wo Domaenenwissen entscheidet (Binning: 0.59, Annotation: 0.62)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Tim Reska  |  Helmholtz Munich  |  April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9"/>
                </a:solidFill>
                <a:latin typeface="Calibri"/>
              </a:defRPr>
            </a:pPr>
            <a:r>
              <a:t>Jede algorithmische Entscheidung basiert auf einer</a:t>
            </a:r>
            <a:br/>
            <a:r>
              <a:t>Evidenzbasis — ich kann sie taggen und priorisieren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Direkt uebertragbar auf Underwriting-Logik: Jede Regel traegt ein Evidenz-Tag. Leitlinienbasierte Regeln (T1) haben Vorrang vor Expert Judgment (T3) — dokumentierbar, auditierbar, priorisierbar.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Tim Reska  |  Helmholtz Munich  |  April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9"/>
                </a:solidFill>
                <a:latin typeface="Calibri"/>
              </a:defRPr>
            </a:pPr>
            <a:r>
              <a:t>Nicht 'kein KI' — sondern die richtige KI</a:t>
            </a:r>
            <a:br/>
            <a:r>
              <a:t>an der richtigen Stelle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3474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846320"/>
            <a:ext cx="31089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Annex III 5(a)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7D31"/>
                </a:solidFill>
                <a:latin typeface="Calibri"/>
              </a:defRPr>
            </a:pPr>
            <a:r>
              <a:t>High-Risk ab Aug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846320"/>
            <a:ext cx="31089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Non-Compliance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00D0D"/>
                </a:solidFill>
                <a:latin typeface="Calibri"/>
              </a:defRPr>
            </a:pPr>
            <a:r>
              <a:t>bis 7 % Umsatz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846320"/>
            <a:ext cx="31089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Mein Ansatz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901"/>
                </a:solidFill>
                <a:latin typeface="Calibri"/>
              </a:defRPr>
            </a:pPr>
            <a:r>
              <a:t>Schicht 1 + Schicht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Tim Reska  |  Helmholtz Munich  |  April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9"/>
                </a:solidFill>
                <a:latin typeface="Calibri"/>
              </a:defRPr>
            </a:pPr>
            <a:r>
              <a:t>Drei methodische Beitraege zum bestehenden KTG-Tool —</a:t>
            </a:r>
            <a:br/>
            <a:r>
              <a:t>kein Ersatz, sondern Ergaenzung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0" y="1371600"/>
            <a:ext cx="548640" cy="548640"/>
          </a:xfrm>
          <a:prstGeom prst="ellipse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ACA"/>
                </a:solidFill>
                <a:latin typeface="Calibri"/>
              </a:defRPr>
            </a:pPr>
            <a:r>
              <a:t>Datenqualitaetspruefung</a:t>
            </a:r>
            <a:br/>
            <a:r>
              <a:t>als Schicht-1 Gatekeeper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Ist die Akte ratebar? Pruefung auf</a:t>
            </a:r>
            <a:br/>
            <a:r>
              <a:t>Vollstaendigkeit, Konsistenz, Aktualitaet</a:t>
            </a:r>
            <a:br/>
            <a:r>
              <a:t>— bevor das Modell ueberhaupt rechnet.</a:t>
            </a:r>
          </a:p>
        </p:txBody>
      </p:sp>
      <p:sp>
        <p:nvSpPr>
          <p:cNvPr id="8" name="Oval 7"/>
          <p:cNvSpPr/>
          <p:nvPr/>
        </p:nvSpPr>
        <p:spPr>
          <a:xfrm>
            <a:off x="5577840" y="1371600"/>
            <a:ext cx="548640" cy="548640"/>
          </a:xfrm>
          <a:prstGeom prst="ellipse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5F9E"/>
                </a:solidFill>
                <a:latin typeface="Calibri"/>
              </a:defRPr>
            </a:pPr>
            <a:r>
              <a:t>Evidence-Tier Tagging</a:t>
            </a:r>
            <a:br/>
            <a:r>
              <a:t>fuer jede Underwriting-Regel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Jede Regel traegt ein Evidenz-Tag</a:t>
            </a:r>
            <a:br/>
            <a:r>
              <a:t>(T1/T2/T3). Leitlinienbasiert hat Vorrang</a:t>
            </a:r>
            <a:br/>
            <a:r>
              <a:t>vor Expert Judgment. Auditierbar.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0" y="1371600"/>
            <a:ext cx="548640" cy="548640"/>
          </a:xfrm>
          <a:prstGeom prst="ellipse">
            <a:avLst/>
          </a:prstGeom>
          <a:solidFill>
            <a:srgbClr val="0D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2339"/>
                </a:solidFill>
                <a:latin typeface="Calibri"/>
              </a:defRPr>
            </a:pPr>
            <a:r>
              <a:t>Red-Team Harness</a:t>
            </a:r>
            <a:br/>
            <a:r>
              <a:t>fuer Grenzfaelle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Systematisches Testen von Grenzfaellen</a:t>
            </a:r>
            <a:br/>
            <a:r>
              <a:t>analog zum LLM-Benchmark: Wo scheitert</a:t>
            </a:r>
            <a:br/>
            <a:r>
              <a:t>der Algorithmus plausibel aber falsch?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572000"/>
            <a:ext cx="7315200" cy="731520"/>
          </a:xfrm>
          <a:prstGeom prst="round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4663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ACA"/>
                </a:solidFill>
                <a:latin typeface="Calibri"/>
              </a:defRPr>
            </a:pPr>
            <a:r>
              <a:t>Nicht als fertiges Produkt — als methodischer Beitrag zum bestehenden Team und Tool.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394960"/>
            <a:ext cx="3657600" cy="1280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0" y="53492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PBW-Detection: Proof of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Tim Reska  |  Helmholtz Munich  |  April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9"/>
                </a:solidFill>
                <a:latin typeface="Calibri"/>
              </a:defRPr>
            </a:pPr>
            <a:r>
              <a:t>Ich bin kein MD — aber ich weiss, wie sich</a:t>
            </a:r>
            <a:br/>
            <a:r>
              <a:t>Krankheitsverlaeufe real anfuehlen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ACA"/>
                </a:solidFill>
                <a:latin typeface="Calibri"/>
              </a:defRPr>
            </a:pPr>
            <a:r>
              <a:t>Was ich mitbringe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6 Jahre Pflege meines Vaters: Hypertonie, mehrere Herzinfarkte, Bypaesse, Stents, dann Sepsis nach Appendizitis-Durchbruch, 8 Wochen Koma, totales Nierenversagen, Herztod am 11. Oktober 2024.</a:t>
            </a:r>
          </a:p>
          <a:p>
            <a:pPr>
              <a:spcBef>
                <a:spcPts val="400"/>
              </a:spcBef>
              <a:defRPr sz="1100" b="1">
                <a:solidFill>
                  <a:srgbClr val="333333"/>
                </a:solidFill>
                <a:latin typeface="Calibri"/>
              </a:defRPr>
            </a:pPr>
            <a:r>
              <a:t>Kein Mitleidsargument — der Grund, warum dieses Problem fuer mich nicht abstrakt ist</a:t>
            </a:r>
          </a:p>
          <a:p>
            <a:pPr>
              <a:spcBef>
                <a:spcPts val="400"/>
              </a:spcBef>
              <a:defRPr sz="1100" b="0">
                <a:solidFill>
                  <a:srgbClr val="333333"/>
                </a:solidFill>
                <a:latin typeface="Calibri"/>
              </a:defRPr>
            </a:pPr>
            <a:r>
              <a:t>PhD: State-Transition-Modellierung (CTMC), Evidenz-Tier-Framework, PBW-Detection</a:t>
            </a:r>
          </a:p>
          <a:p>
            <a:pPr>
              <a:spcBef>
                <a:spcPts val="400"/>
              </a:spcBef>
              <a:defRPr sz="1100" b="0">
                <a:solidFill>
                  <a:srgbClr val="333333"/>
                </a:solidFill>
                <a:latin typeface="Calibri"/>
              </a:defRPr>
            </a:pPr>
            <a:r>
              <a:t>36 Monate LLM-Benchmark: 28 Modelle, peer-reviewed Methodik</a:t>
            </a:r>
          </a:p>
          <a:p>
            <a:pPr>
              <a:spcBef>
                <a:spcPts val="400"/>
              </a:spcBef>
              <a:defRPr sz="1100" b="0">
                <a:solidFill>
                  <a:srgbClr val="333333"/>
                </a:solidFill>
                <a:latin typeface="Calibri"/>
              </a:defRPr>
            </a:pPr>
            <a:r>
              <a:t>7 Jahre Versicherung (ERGO / Munich Re): regulierte Prozesse, Compliance, Aktuariat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Calibri"/>
              </a:defRPr>
            </a:pPr>
            <a:r>
              <a:t>Was ich noch brauche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Klinische Experten und Underwriting-Erfahrung im Team. Ich ersetze keinen Medical Director.</a:t>
            </a:r>
          </a:p>
          <a:p>
            <a:pPr>
              <a:spcBef>
                <a:spcPts val="400"/>
              </a:spcBef>
              <a:defRPr sz="1100" b="0">
                <a:solidFill>
                  <a:srgbClr val="333333"/>
                </a:solidFill>
                <a:latin typeface="Calibri"/>
              </a:defRPr>
            </a:pPr>
            <a:r>
              <a:t>Klinisches Detailwissen: Leitlinieninterpretation, Einzelfallbewertung, Prognoseeinschaetzung</a:t>
            </a:r>
          </a:p>
          <a:p>
            <a:pPr>
              <a:spcBef>
                <a:spcPts val="400"/>
              </a:spcBef>
              <a:defRPr sz="1100" b="0">
                <a:solidFill>
                  <a:srgbClr val="333333"/>
                </a:solidFill>
                <a:latin typeface="Calibri"/>
              </a:defRPr>
            </a:pPr>
            <a:r>
              <a:t>Underwriting-Praxis: Rating-Tabellen, Schadenverlaeufe, Portfolioerfahrung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822960"/>
          </a:xfrm>
          <a:prstGeom prst="round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ACA"/>
                </a:solidFill>
                <a:latin typeface="Calibri"/>
              </a:defRPr>
            </a:pPr>
            <a:r>
              <a:t>Mein Beitrag: Sicherstellen, dass klinische Expertise korrekt, auditierbar und klinisch integer in algorithmische Systeme uebersetzt wird.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Tim Reska  |  Helmholtz Munich  |  April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Naechste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Wo sind die groessten Schwachstellen</a:t>
            </a:r>
            <a:br/>
            <a:r>
              <a:t>im aktuellen KTG-Tool?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657600" cy="25400"/>
          </a:xfrm>
          <a:prstGeom prst="rect">
            <a:avLst/>
          </a:prstGeom>
          <a:solidFill>
            <a:srgbClr val="10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C4DE"/>
                </a:solidFill>
                <a:latin typeface="Calibri"/>
              </a:defRPr>
            </a:pPr>
            <a:r>
              <a:t>Das ist der Ausgangspunkt.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Tim Reska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C4DE"/>
                </a:solidFill>
                <a:latin typeface="Calibri"/>
              </a:defRPr>
            </a:pPr>
            <a:r>
              <a:t>Helmholtz Munich  |  PhD Genomik &amp; Bioinformatik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